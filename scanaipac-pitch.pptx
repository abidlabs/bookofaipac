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400">
                <a:solidFill>
                  <a:srgbClr val="7DA0FF"/>
                </a:solidFill>
                <a:latin typeface="Helvetica Neue"/>
              </a:rPr>
              <a:t>ACCOUNTABILITY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10637215" cy="182880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pPr algn="ctr"/>
            <a:r>
              <a:rPr sz="18000" b="1">
                <a:solidFill>
                  <a:srgbClr val="F0F0F0"/>
                </a:solidFill>
                <a:latin typeface="Helvetica Neue"/>
              </a:rPr>
              <a:t>ScanAIPAC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390227"/>
            <a:ext cx="10637215" cy="44789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438330"/>
            <a:ext cx="10637215" cy="41343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536528"/>
            <a:ext cx="10637215" cy="24325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777436"/>
            <a:ext cx="10637215" cy="27463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3165095"/>
            <a:ext cx="10637215" cy="45793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459624"/>
            <a:ext cx="10637215" cy="18679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754356"/>
            <a:ext cx="10637215" cy="37881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48056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0">
                <a:solidFill>
                  <a:srgbClr val="F0F0F0"/>
                </a:solidFill>
                <a:latin typeface="Helvetica Neue"/>
              </a:rPr>
              <a:t>Why this app exists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8888A0"/>
                </a:solidFill>
                <a:latin typeface="Helvetica Neue"/>
              </a:rPr>
              <a:t>A 10-slide tour of what ScanAIPAC does, who it's for, and why now.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Money shapes the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vote.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Pro-Israel PACs and bundlers spend tens of millions per cycle to back or punish candidates — the average voter never sees those receipts.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607" y="42062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6607" y="443484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FF9090"/>
                </a:solidFill>
                <a:latin typeface="Helvetica Neue"/>
              </a:rPr>
              <a:t>$100M+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53492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8888A0"/>
                </a:solidFill>
                <a:latin typeface="Helvetica Neue"/>
              </a:rPr>
              <a:t>Pro-Israel spending in recent cycles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207" y="42062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4207" y="443484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7DA0FF"/>
                </a:solidFill>
                <a:latin typeface="Helvetica Neue"/>
              </a:rPr>
              <a:t>535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53492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8888A0"/>
                </a:solidFill>
                <a:latin typeface="Helvetica Neue"/>
              </a:rPr>
              <a:t>Members of Congress to track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1807" y="420624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1807" y="443484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8888A0"/>
                </a:solidFill>
                <a:latin typeface="Helvetica Neue"/>
              </a:rPr>
              <a:t>~0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5349240"/>
            <a:ext cx="2834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8888A0"/>
                </a:solidFill>
                <a:latin typeface="Helvetica Neue"/>
              </a:rPr>
              <a:t>Voters who read FEC filings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THE INFORMATION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Names on a ballot don't tell you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who funds them.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FEC data exists. It's just buried in PDFs and spreadsheets that no one reads in the voting booth.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10637215" cy="2148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You see a name. You don't see the donors.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Local races are even more opaque than federal.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By the time you're voting, it's too late to research.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Scan a name.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Get the answer.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ScanAIPAC turns your camera into an accountability lens for any ballot, mailer, or news article.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607" y="40233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42062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7DA0FF"/>
                </a:solidFill>
                <a:latin typeface="Helvetica Neu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0F0"/>
                </a:solidFill>
                <a:latin typeface="Helvetica Neue"/>
              </a:rPr>
              <a:t>Point camera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0927" y="52578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888A0"/>
                </a:solidFill>
                <a:latin typeface="Helvetica Neue"/>
              </a:rPr>
              <a:t>at a candidate's name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207" y="40233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8527" y="42062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7DA0FF"/>
                </a:solidFill>
                <a:latin typeface="Helvetica Neu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852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0F0"/>
                </a:solidFill>
                <a:latin typeface="Helvetica Neue"/>
              </a:rPr>
              <a:t>On-device OCR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8527" y="52578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888A0"/>
                </a:solidFill>
                <a:latin typeface="Helvetica Neue"/>
              </a:rPr>
              <a:t>extracts the name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807" y="40233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6127" y="420624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300">
                <a:solidFill>
                  <a:srgbClr val="7DA0FF"/>
                </a:solidFill>
                <a:latin typeface="Helvetica Neue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6127" y="4663440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0F0F0"/>
                </a:solidFill>
                <a:latin typeface="Helvetica Neue"/>
              </a:rPr>
              <a:t>Match + show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6127" y="5257800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888A0"/>
                </a:solidFill>
                <a:latin typeface="Helvetica Neue"/>
              </a:rPr>
              <a:t>donor stance and details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On-device OCR. No upload.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No tracking.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The camera frame never leaves your phone. Recognition runs locally; only the matched name is checked against the local candidate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10637215" cy="2148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Apple's Vision / Android ML Kit do the text recognition on-device.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Bundled candidate index ships with the app — works offline.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Camera images and extracted text are not sent to a server.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STANCE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Color-coded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at a glance.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Each candidate is tagged with a clear stance and supporting receipts — donations, votes, public statements.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607" y="42062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FF9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12367" y="4617720"/>
            <a:ext cx="457200" cy="457200"/>
          </a:xfrm>
          <a:prstGeom prst="ellipse">
            <a:avLst/>
          </a:prstGeom>
          <a:solidFill>
            <a:srgbClr val="FF9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2447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9090"/>
                </a:solidFill>
                <a:latin typeface="Helvetica Neue"/>
              </a:rPr>
              <a:t>Pro-Israel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2447" y="51206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888A0"/>
                </a:solidFill>
                <a:latin typeface="Helvetica Neue"/>
              </a:rPr>
              <a:t>donations · votes · statements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4207" y="42062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6DE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69967" y="4617720"/>
            <a:ext cx="457200" cy="457200"/>
          </a:xfrm>
          <a:prstGeom prst="ellipse">
            <a:avLst/>
          </a:prstGeom>
          <a:solidFill>
            <a:srgbClr val="6DE0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10047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6DE098"/>
                </a:solidFill>
                <a:latin typeface="Helvetica Neue"/>
              </a:rPr>
              <a:t>Pro-Palestine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047" y="51206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888A0"/>
                </a:solidFill>
                <a:latin typeface="Helvetica Neue"/>
              </a:rPr>
              <a:t>donations · votes · statements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1807" y="4206240"/>
            <a:ext cx="3383280" cy="164592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888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27567" y="4617720"/>
            <a:ext cx="457200" cy="457200"/>
          </a:xfrm>
          <a:prstGeom prst="ellipse">
            <a:avLst/>
          </a:prstGeom>
          <a:solidFill>
            <a:srgbClr val="888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7647" y="457200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8888A0"/>
                </a:solidFill>
                <a:latin typeface="Helvetica Neue"/>
              </a:rPr>
              <a:t>Mixed / unclear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67647" y="51206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8888A0"/>
                </a:solidFill>
                <a:latin typeface="Helvetica Neue"/>
              </a:rPr>
              <a:t>donations · votes · statements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WHO IT'S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Voters, organizers,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journalists.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Anyone who wants to make a 5-second judgment about who's behind a name on a ballot or in the news.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0637215" cy="2240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Voters scanning mail-in ballots before they fill them out.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Organizers door-knocking with district sheets.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Journalists fact-checking quotes and endorsements in the field.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Students and researchers building their own civic dashboards.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WHY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The receipts exist. The interface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didn't.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FEC data is public. On-device ML is good enough. The only missing piece is a camera-first UI that puts both in your pocket.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10637215" cy="22402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FEC + OpenSecrets data is structured and free to use.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Modern phones run OCR + matching in milliseconds.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Gen Z + Millennial voters already research candidates on their phones.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7DA0FF"/>
                </a:solidFill>
                <a:latin typeface="Helvetica Neue"/>
              </a:rPr>
              <a:t>▸  </a:t>
            </a:r>
            <a:r>
              <a:rPr sz="2000">
                <a:solidFill>
                  <a:srgbClr val="F0F0F0"/>
                </a:solidFill>
                <a:latin typeface="Helvetica Neue"/>
              </a:rPr>
              <a:t>Public attention to AIPAC funding is at an all-time high.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400">
                <a:solidFill>
                  <a:srgbClr val="7DA0FF"/>
                </a:solidFill>
                <a:latin typeface="Helvetica Neue"/>
              </a:rPr>
              <a:t>WHAT'S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97280"/>
            <a:ext cx="10637215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5400" b="1" i="0">
                <a:solidFill>
                  <a:srgbClr val="F0F0F0"/>
                </a:solidFill>
                <a:latin typeface="Helvetica Neue"/>
              </a:rPr>
              <a:t>From scanner to </a:t>
            </a:r>
            <a:r>
              <a:rPr sz="5400" b="1" i="1">
                <a:solidFill>
                  <a:srgbClr val="7DA0FF"/>
                </a:solidFill>
                <a:latin typeface="Helvetica Neue"/>
              </a:rPr>
              <a:t>civic 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8888A0"/>
                </a:solidFill>
                <a:latin typeface="Helvetica Neue"/>
              </a:rPr>
              <a:t>ScanAIPAC starts with one question — who funds this candidate — and grows into a broader accountability layer.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6607" y="40233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4297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400">
                <a:solidFill>
                  <a:srgbClr val="7DA0FF"/>
                </a:solidFill>
                <a:latin typeface="Helvetica Neue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927" y="489204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Helvetica Neue"/>
              </a:rPr>
              <a:t>iOS + Android scan, candidate database, stance tags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4207" y="40233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8527" y="4297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400">
                <a:solidFill>
                  <a:srgbClr val="7DA0FF"/>
                </a:solidFill>
                <a:latin typeface="Helvetica Neue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8527" y="489204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Helvetica Neue"/>
              </a:rPr>
              <a:t>Full ballot scan, district auto-detect, share cards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1807" y="4023360"/>
            <a:ext cx="3383280" cy="2011680"/>
          </a:xfrm>
          <a:prstGeom prst="roundRect">
            <a:avLst>
              <a:gd name="adj" fmla="val 6000"/>
            </a:avLst>
          </a:prstGeom>
          <a:solidFill>
            <a:srgbClr val="18181E"/>
          </a:solidFill>
          <a:ln w="12700">
            <a:solidFill>
              <a:srgbClr val="26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6127" y="4297680"/>
            <a:ext cx="2834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400">
                <a:solidFill>
                  <a:srgbClr val="7DA0FF"/>
                </a:solidFill>
                <a:latin typeface="Helvetica Neue"/>
              </a:rPr>
              <a:t>LATER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6127" y="4892040"/>
            <a:ext cx="2834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0F0F0"/>
                </a:solidFill>
                <a:latin typeface="Helvetica Neue"/>
              </a:rPr>
              <a:t>Open API, journalist tools, multi-issue stance lenses</a:t>
            </a:r>
          </a:p>
        </p:txBody>
      </p:sp>
    </p:spTree>
  </p:cSld>
  <p:clrMapOvr>
    <a:masterClrMapping/>
  </p:clrMapOvr>
  <p:transition spd="med" advClick="1" dur="6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92608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515039" y="292608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92608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92608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1899087" y="6181344"/>
            <a:ext cx="0" cy="384048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1515039" y="6565392"/>
            <a:ext cx="384048" cy="0"/>
          </a:xfrm>
          <a:prstGeom prst="line">
            <a:avLst/>
          </a:prstGeom>
          <a:ln w="34925">
            <a:solidFill>
              <a:srgbClr val="7D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777240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spc="400">
                <a:solidFill>
                  <a:srgbClr val="7DA0FF"/>
                </a:solidFill>
                <a:latin typeface="Helvetica Neue"/>
              </a:rPr>
              <a:t>JOIN THE BETA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0637215" cy="1645920"/>
          </a:xfrm>
          <a:prstGeom prst="rect">
            <a:avLst/>
          </a:prstGeom>
          <a:noFill/>
        </p:spPr>
        <p:txBody>
          <a:bodyPr wrap="none" lIns="0" tIns="0" bIns="0" anchor="ctr">
            <a:spAutoFit/>
          </a:bodyPr>
          <a:lstStyle/>
          <a:p>
            <a:pPr algn="ctr"/>
            <a:r>
              <a:rPr sz="16000" b="1">
                <a:solidFill>
                  <a:srgbClr val="F0F0F0"/>
                </a:solidFill>
                <a:latin typeface="Helvetica Neue"/>
              </a:rPr>
              <a:t>ScanAIPAC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024467"/>
            <a:ext cx="10637215" cy="44789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072570"/>
            <a:ext cx="10637215" cy="41343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2170768"/>
            <a:ext cx="10637215" cy="24325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2411676"/>
            <a:ext cx="10637215" cy="27463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2799335"/>
            <a:ext cx="10637215" cy="45793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093864"/>
            <a:ext cx="10637215" cy="18679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88596"/>
            <a:ext cx="10637215" cy="37881"/>
          </a:xfrm>
          <a:prstGeom prst="rect">
            <a:avLst/>
          </a:prstGeom>
          <a:solidFill>
            <a:srgbClr val="0C0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106372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F0F0F0"/>
                </a:solidFill>
                <a:latin typeface="Helvetica Neue"/>
              </a:rPr>
              <a:t>TestFlight is live. Android internal testing on Google Play.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634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>
                <a:solidFill>
                  <a:srgbClr val="8888A0"/>
                </a:solidFill>
                <a:latin typeface="Helvetica Neue"/>
              </a:rPr>
              <a:t>bookofaipac · scan a name, see who funds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5607" y="5486400"/>
            <a:ext cx="3840480" cy="777240"/>
          </a:xfrm>
          <a:prstGeom prst="roundRect">
            <a:avLst>
              <a:gd name="adj" fmla="val 6000"/>
            </a:avLst>
          </a:prstGeom>
          <a:solidFill>
            <a:srgbClr val="5F6FD4"/>
          </a:solidFill>
          <a:ln w="19050">
            <a:solidFill>
              <a:srgbClr val="7DA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75607" y="562356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spc="300">
                <a:solidFill>
                  <a:srgbClr val="F8F8FF"/>
                </a:solidFill>
                <a:latin typeface="Helvetica Neue"/>
              </a:rPr>
              <a:t>GET THE APP</a:t>
            </a:r>
          </a:p>
        </p:txBody>
      </p:sp>
    </p:spTree>
  </p:cSld>
  <p:clrMapOvr>
    <a:masterClrMapping/>
  </p:clrMapOvr>
  <p:transition spd="med" advClick="1" dur="6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